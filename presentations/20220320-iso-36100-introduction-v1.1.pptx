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2"/>
  </p:notesMasterIdLst>
  <p:sldIdLst>
    <p:sldId id="256" r:id="rId2"/>
    <p:sldId id="434" r:id="rId3"/>
    <p:sldId id="438" r:id="rId4"/>
    <p:sldId id="435" r:id="rId5"/>
    <p:sldId id="432" r:id="rId6"/>
    <p:sldId id="443" r:id="rId7"/>
    <p:sldId id="440" r:id="rId8"/>
    <p:sldId id="446" r:id="rId9"/>
    <p:sldId id="447" r:id="rId10"/>
    <p:sldId id="439" r:id="rId11"/>
    <p:sldId id="437" r:id="rId12"/>
    <p:sldId id="296" r:id="rId13"/>
    <p:sldId id="442" r:id="rId14"/>
    <p:sldId id="444" r:id="rId15"/>
    <p:sldId id="445" r:id="rId16"/>
    <p:sldId id="433" r:id="rId17"/>
    <p:sldId id="441" r:id="rId18"/>
    <p:sldId id="449" r:id="rId19"/>
    <p:sldId id="448" r:id="rId20"/>
    <p:sldId id="261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ald Tse" initials="RT" lastIdx="1" clrIdx="0">
    <p:extLst>
      <p:ext uri="{19B8F6BF-5375-455C-9EA6-DF929625EA0E}">
        <p15:presenceInfo xmlns:p15="http://schemas.microsoft.com/office/powerpoint/2012/main" userId="28d90f753583c6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4"/>
    <p:restoredTop sz="96327"/>
  </p:normalViewPr>
  <p:slideViewPr>
    <p:cSldViewPr snapToGrid="0" snapToObjects="1">
      <p:cViewPr varScale="1">
        <p:scale>
          <a:sx n="111" d="100"/>
          <a:sy n="111" d="100"/>
        </p:scale>
        <p:origin x="216" y="8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7D246-20DC-5842-A287-595218E72F00}" type="datetimeFigureOut">
              <a:rPr lang="en-US" smtClean="0"/>
              <a:t>3/21/22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CFB35-3A40-B048-9142-E6D9B416C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0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3529" y="995294"/>
            <a:ext cx="6903855" cy="597732"/>
          </a:xfrm>
        </p:spPr>
        <p:txBody>
          <a:bodyPr/>
          <a:lstStyle>
            <a:lvl1pPr algn="l">
              <a:defRPr sz="2400" cap="none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Enter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03528" y="1832156"/>
            <a:ext cx="6903855" cy="23160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enter subtitle</a:t>
            </a:r>
          </a:p>
        </p:txBody>
      </p:sp>
      <p:sp>
        <p:nvSpPr>
          <p:cNvPr id="12" name="Rectangle 6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6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6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6"/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5B6DDD72-5000-B742-A259-C6E28991DD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9063" y="984250"/>
            <a:ext cx="8618537" cy="36099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6D1F920-306F-324B-BE5D-851B970F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08C8B-47BF-8044-A0D5-5FA2C479A2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063" y="990428"/>
            <a:ext cx="4305299" cy="36037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BEA1081-2D89-F149-B865-D55736318A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32302" y="990428"/>
            <a:ext cx="4305299" cy="36037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E175BFD-463D-894E-8A13-0A8A3B6C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9064" y="991525"/>
            <a:ext cx="4296311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26185" y="991525"/>
            <a:ext cx="421141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9C5752-F5DC-0A43-A1D8-38C61DB861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063" y="1470948"/>
            <a:ext cx="4296311" cy="312327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ABF144D-42F4-194A-9501-1FCC83F629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6185" y="1470948"/>
            <a:ext cx="4211415" cy="312327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99DB74-D3BE-3743-96F4-13B640092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614614" y="2527541"/>
            <a:ext cx="5696461" cy="631886"/>
          </a:xfrm>
        </p:spPr>
        <p:txBody>
          <a:bodyPr/>
          <a:lstStyle>
            <a:lvl1pPr algn="l">
              <a:defRPr sz="2200" cap="none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Enter Section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14613" y="3301327"/>
            <a:ext cx="5696461" cy="102634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enter 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167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097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065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AF647A-F430-493F-8C59-3B8606183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80" y="872128"/>
            <a:ext cx="78867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A26529-85C0-4F43-A661-C246EECB0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F4EB3E8-5FEC-4C3E-A5D3-50A8AFCC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911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498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4223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7364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8603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876847"/>
            <a:ext cx="3886200" cy="3263504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/>
            </a:lvl1pPr>
            <a:lvl2pPr>
              <a:lnSpc>
                <a:spcPct val="100000"/>
              </a:lnSpc>
              <a:spcAft>
                <a:spcPts val="450"/>
              </a:spcAft>
              <a:defRPr/>
            </a:lvl2pPr>
            <a:lvl3pPr>
              <a:lnSpc>
                <a:spcPct val="100000"/>
              </a:lnSpc>
              <a:spcAft>
                <a:spcPts val="450"/>
              </a:spcAft>
              <a:defRPr/>
            </a:lvl3pPr>
            <a:lvl4pPr>
              <a:lnSpc>
                <a:spcPct val="100000"/>
              </a:lnSpc>
              <a:spcAft>
                <a:spcPts val="450"/>
              </a:spcAft>
              <a:defRPr/>
            </a:lvl4pPr>
            <a:lvl5pPr>
              <a:lnSpc>
                <a:spcPct val="100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4117" y="4909292"/>
            <a:ext cx="855968" cy="212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2" y="41464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8267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5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4479488" y="4863108"/>
            <a:ext cx="180338" cy="18274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85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ti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064" y="172642"/>
            <a:ext cx="8618537" cy="6500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ENTER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40" y="984433"/>
            <a:ext cx="8618537" cy="361019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0E540-8A9C-2049-AFF5-9D91CB3EFCC6}"/>
              </a:ext>
            </a:extLst>
          </p:cNvPr>
          <p:cNvPicPr/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00"/>
          <a:stretch/>
        </p:blipFill>
        <p:spPr bwMode="auto">
          <a:xfrm>
            <a:off x="7519343" y="4592412"/>
            <a:ext cx="587203" cy="5510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5771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0" r:id="rId3"/>
    <p:sldLayoutId id="2147483741" r:id="rId4"/>
    <p:sldLayoutId id="2147483750" r:id="rId5"/>
    <p:sldLayoutId id="2147483756" r:id="rId6"/>
    <p:sldLayoutId id="2147483758" r:id="rId7"/>
    <p:sldLayoutId id="2147483759" r:id="rId8"/>
    <p:sldLayoutId id="2147483761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none" baseline="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–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–"/>
        <a:defRPr sz="16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»"/>
        <a:defRPr sz="16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C289-AD8E-EC4A-B7B9-A63F3478F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3529" y="995294"/>
            <a:ext cx="6903855" cy="915282"/>
          </a:xfrm>
        </p:spPr>
        <p:txBody>
          <a:bodyPr/>
          <a:lstStyle/>
          <a:p>
            <a:r>
              <a:rPr lang="en-US" sz="2800" dirty="0"/>
              <a:t>ISO 36100</a:t>
            </a:r>
            <a:br>
              <a:rPr lang="en-US" sz="2800" dirty="0"/>
            </a:br>
            <a:r>
              <a:rPr lang="en-US" sz="2800" dirty="0"/>
              <a:t>Standardization documents — Metamodel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B78AA-4892-E642-A76E-E5E98BE0A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528" y="2878667"/>
            <a:ext cx="6903855" cy="12695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Dr. Nick Nicholas</a:t>
            </a:r>
            <a:br>
              <a:rPr lang="en-US" sz="2000" dirty="0"/>
            </a:br>
            <a:r>
              <a:rPr lang="en-US" sz="2000" dirty="0"/>
              <a:t>CalConnect</a:t>
            </a:r>
          </a:p>
        </p:txBody>
      </p:sp>
    </p:spTree>
    <p:extLst>
      <p:ext uri="{BB962C8B-B14F-4D97-AF65-F5344CB8AC3E}">
        <p14:creationId xmlns:p14="http://schemas.microsoft.com/office/powerpoint/2010/main" val="29075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8A4730-33DD-124F-AF8A-F8D32898DB3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Standardization deliverables are created to:</a:t>
            </a:r>
            <a:endParaRPr lang="en-US" sz="1800" u="sng" dirty="0"/>
          </a:p>
          <a:p>
            <a:pPr lvl="1"/>
            <a:r>
              <a:rPr lang="en-US" sz="1800" dirty="0"/>
              <a:t>express </a:t>
            </a:r>
            <a:r>
              <a:rPr lang="en-US" sz="1800" u="sng" dirty="0">
                <a:solidFill>
                  <a:schemeClr val="accent1"/>
                </a:solidFill>
              </a:rPr>
              <a:t>a set of normalized requirements</a:t>
            </a:r>
            <a:r>
              <a:rPr lang="en-US" sz="1800" dirty="0"/>
              <a:t> and</a:t>
            </a:r>
          </a:p>
          <a:p>
            <a:pPr lvl="1"/>
            <a:r>
              <a:rPr lang="en-US" sz="1800" dirty="0"/>
              <a:t>express </a:t>
            </a:r>
            <a:r>
              <a:rPr lang="en-US" sz="1800" u="sng" dirty="0">
                <a:solidFill>
                  <a:schemeClr val="accent1"/>
                </a:solidFill>
              </a:rPr>
              <a:t>information associated with those requirements</a:t>
            </a:r>
            <a:r>
              <a:rPr lang="en-US" sz="1800" dirty="0"/>
              <a:t>.</a:t>
            </a:r>
          </a:p>
          <a:p>
            <a:pPr lvl="1"/>
            <a:endParaRPr lang="en-US" sz="1800" dirty="0"/>
          </a:p>
          <a:p>
            <a:r>
              <a:rPr lang="en-US" sz="1800" dirty="0"/>
              <a:t>Standardization deliverables play a crucial role in today’s activities:</a:t>
            </a:r>
          </a:p>
          <a:p>
            <a:pPr lvl="1"/>
            <a:r>
              <a:rPr lang="en-US" sz="1800" dirty="0"/>
              <a:t>Rule-based enforcements from the organization of markets, conformance of products to the compliance of regulation and requirements, all depend on content expressed through standardization deliverables.</a:t>
            </a: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453633-B01A-6446-8159-3E380701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of a harmonized information model</a:t>
            </a:r>
          </a:p>
        </p:txBody>
      </p:sp>
    </p:spTree>
    <p:extLst>
      <p:ext uri="{BB962C8B-B14F-4D97-AF65-F5344CB8AC3E}">
        <p14:creationId xmlns:p14="http://schemas.microsoft.com/office/powerpoint/2010/main" val="162104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125467-9BBF-E841-BF83-6127FAD7D11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Rigorous, detailed rules around information structure are </a:t>
            </a:r>
            <a:r>
              <a:rPr lang="en-US" sz="1800" i="1" dirty="0">
                <a:solidFill>
                  <a:schemeClr val="accent5"/>
                </a:solidFill>
              </a:rPr>
              <a:t>manually validated</a:t>
            </a:r>
            <a:r>
              <a:rPr lang="en-US" sz="1800" i="1" dirty="0"/>
              <a:t> </a:t>
            </a:r>
            <a:r>
              <a:rPr lang="en-US" sz="1800" dirty="0"/>
              <a:t>leads to </a:t>
            </a:r>
            <a:r>
              <a:rPr lang="en-US" sz="1800" u="sng" dirty="0">
                <a:solidFill>
                  <a:schemeClr val="accent5"/>
                </a:solidFill>
              </a:rPr>
              <a:t>mixed and inconsistent results</a:t>
            </a:r>
          </a:p>
          <a:p>
            <a:r>
              <a:rPr lang="en-US" sz="1800" dirty="0"/>
              <a:t>Document editing revolves around </a:t>
            </a:r>
            <a:r>
              <a:rPr lang="en-US" sz="1800" i="1" dirty="0">
                <a:solidFill>
                  <a:schemeClr val="accent5"/>
                </a:solidFill>
              </a:rPr>
              <a:t>standardizing use of particular software instead of requirements</a:t>
            </a:r>
            <a:r>
              <a:rPr lang="en-US" sz="1800" dirty="0"/>
              <a:t>, leading to </a:t>
            </a:r>
            <a:r>
              <a:rPr lang="en-US" sz="1800" u="sng" dirty="0">
                <a:solidFill>
                  <a:schemeClr val="accent5"/>
                </a:solidFill>
              </a:rPr>
              <a:t>non-interoperable information</a:t>
            </a:r>
          </a:p>
          <a:p>
            <a:r>
              <a:rPr lang="en-US" sz="1800" dirty="0"/>
              <a:t>Workflows </a:t>
            </a:r>
            <a:r>
              <a:rPr lang="en-US" sz="1800" i="1" dirty="0">
                <a:solidFill>
                  <a:schemeClr val="accent5"/>
                </a:solidFill>
              </a:rPr>
              <a:t>conflate information structure and presentation</a:t>
            </a:r>
            <a:r>
              <a:rPr lang="en-US" sz="1800" dirty="0"/>
              <a:t>, significant amounts of </a:t>
            </a:r>
            <a:r>
              <a:rPr lang="en-US" sz="1800" u="sng" dirty="0">
                <a:solidFill>
                  <a:schemeClr val="accent5"/>
                </a:solidFill>
              </a:rPr>
              <a:t>time wasted on formatting</a:t>
            </a:r>
            <a:r>
              <a:rPr lang="en-US" sz="1800" dirty="0"/>
              <a:t> instead of content.</a:t>
            </a:r>
          </a:p>
          <a:p>
            <a:r>
              <a:rPr lang="en-US" sz="1800" dirty="0"/>
              <a:t>Exchange mechanisms </a:t>
            </a:r>
            <a:r>
              <a:rPr lang="en-US" sz="1800" i="1" dirty="0">
                <a:solidFill>
                  <a:schemeClr val="accent5"/>
                </a:solidFill>
              </a:rPr>
              <a:t>focus on appearance or superficial structure</a:t>
            </a:r>
            <a:r>
              <a:rPr lang="en-US" sz="1800" dirty="0"/>
              <a:t>, </a:t>
            </a:r>
            <a:r>
              <a:rPr lang="en-US" sz="1800" u="sng" dirty="0">
                <a:solidFill>
                  <a:schemeClr val="accent5"/>
                </a:solidFill>
              </a:rPr>
              <a:t>not intended for use</a:t>
            </a:r>
            <a:r>
              <a:rPr lang="en-US" sz="1800" dirty="0"/>
              <a:t>.</a:t>
            </a:r>
          </a:p>
          <a:p>
            <a:r>
              <a:rPr lang="en-US" sz="1800" dirty="0"/>
              <a:t>Standardization bodies </a:t>
            </a:r>
            <a:r>
              <a:rPr lang="en-US" sz="1800" i="1" dirty="0">
                <a:solidFill>
                  <a:schemeClr val="accent5"/>
                </a:solidFill>
              </a:rPr>
              <a:t>dictate incompatible workflows</a:t>
            </a:r>
            <a:r>
              <a:rPr lang="en-US" sz="1800" dirty="0"/>
              <a:t>. Submitting identical content or cross-publishing to multiple standardization bodies </a:t>
            </a:r>
            <a:r>
              <a:rPr lang="en-US" sz="1800" u="sng" dirty="0">
                <a:solidFill>
                  <a:schemeClr val="accent5"/>
                </a:solidFill>
              </a:rPr>
              <a:t>require heavy replication of work</a:t>
            </a:r>
            <a:r>
              <a:rPr lang="en-US" sz="18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459885-30E4-184D-9AD8-89A24601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efficiency and effectiveness challenges</a:t>
            </a:r>
          </a:p>
        </p:txBody>
      </p:sp>
    </p:spTree>
    <p:extLst>
      <p:ext uri="{BB962C8B-B14F-4D97-AF65-F5344CB8AC3E}">
        <p14:creationId xmlns:p14="http://schemas.microsoft.com/office/powerpoint/2010/main" val="10763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31FCD1-638B-6340-A636-C631F246492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HK" sz="1800" dirty="0"/>
              <a:t>The </a:t>
            </a:r>
            <a:r>
              <a:rPr lang="en-HK" sz="1800" i="1" dirty="0" err="1"/>
              <a:t>StandardDocument</a:t>
            </a:r>
            <a:r>
              <a:rPr lang="en-HK" sz="1800" i="1" dirty="0"/>
              <a:t> </a:t>
            </a:r>
            <a:r>
              <a:rPr lang="en-HK" sz="1800" dirty="0"/>
              <a:t>document metamodel [*] treats a standardization deliverable as a </a:t>
            </a:r>
            <a:r>
              <a:rPr lang="en-HK" sz="1800" u="sng" dirty="0">
                <a:solidFill>
                  <a:schemeClr val="accent1"/>
                </a:solidFill>
              </a:rPr>
              <a:t>set of standardized data structures</a:t>
            </a:r>
            <a:r>
              <a:rPr lang="en-HK" sz="1800" dirty="0"/>
              <a:t>, used to enable an end-to-end standardization document production process.</a:t>
            </a:r>
          </a:p>
          <a:p>
            <a:r>
              <a:rPr lang="en-HK" sz="1800" dirty="0"/>
              <a:t>The metamodels </a:t>
            </a:r>
            <a:r>
              <a:rPr lang="en-HK" sz="1800" u="sng" dirty="0">
                <a:solidFill>
                  <a:schemeClr val="accent1"/>
                </a:solidFill>
              </a:rPr>
              <a:t>focuses on semantics and encompasses core similarities</a:t>
            </a:r>
            <a:r>
              <a:rPr lang="en-HK" sz="1800" dirty="0"/>
              <a:t> between standardization documents of different standardization bodies.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[*] a metamodel is a language used to create information models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F862A5-18C6-C244-9DE3-EE2171EB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Harmonizing standardization deliverable content across SDOs</a:t>
            </a:r>
          </a:p>
        </p:txBody>
      </p:sp>
    </p:spTree>
    <p:extLst>
      <p:ext uri="{BB962C8B-B14F-4D97-AF65-F5344CB8AC3E}">
        <p14:creationId xmlns:p14="http://schemas.microsoft.com/office/powerpoint/2010/main" val="384379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EE28B-E3A7-6143-AF89-5F7BB72C16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ISO and IEC</a:t>
            </a:r>
          </a:p>
          <a:p>
            <a:pPr lvl="1"/>
            <a:r>
              <a:rPr lang="en-US" sz="1800" dirty="0"/>
              <a:t>ISO/IEC DIR 1, DIR 2</a:t>
            </a:r>
          </a:p>
          <a:p>
            <a:pPr lvl="1"/>
            <a:r>
              <a:rPr lang="en-US" sz="1800" dirty="0"/>
              <a:t>ISO and IEC Supplements</a:t>
            </a:r>
          </a:p>
          <a:p>
            <a:pPr lvl="1"/>
            <a:r>
              <a:rPr lang="en-US" sz="1800" dirty="0"/>
              <a:t>ISO House Style</a:t>
            </a:r>
          </a:p>
          <a:p>
            <a:r>
              <a:rPr lang="en-US" sz="1800" dirty="0"/>
              <a:t>ITU-T / ITU-R</a:t>
            </a:r>
          </a:p>
          <a:p>
            <a:r>
              <a:rPr lang="en-US" sz="1800" dirty="0"/>
              <a:t>CalConnect</a:t>
            </a:r>
          </a:p>
          <a:p>
            <a:pPr lvl="1"/>
            <a:r>
              <a:rPr lang="en-US" sz="1800" dirty="0"/>
              <a:t>CC/DIR 10001</a:t>
            </a:r>
          </a:p>
          <a:p>
            <a:pPr lvl="1"/>
            <a:r>
              <a:rPr lang="en-US" sz="1800" dirty="0"/>
              <a:t>CC/DIR 10002</a:t>
            </a:r>
          </a:p>
          <a:p>
            <a:r>
              <a:rPr lang="en-US" sz="1800" dirty="0"/>
              <a:t>IETF</a:t>
            </a:r>
          </a:p>
          <a:p>
            <a:pPr lvl="1"/>
            <a:r>
              <a:rPr lang="en-US" sz="1800" dirty="0"/>
              <a:t>RFC 7749</a:t>
            </a:r>
          </a:p>
          <a:p>
            <a:pPr lvl="1"/>
            <a:r>
              <a:rPr lang="en-US" sz="1800" dirty="0"/>
              <a:t>RFC 7991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20E6A5-22FC-DE4E-A1E0-B826411DC31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OGC</a:t>
            </a:r>
          </a:p>
          <a:p>
            <a:pPr lvl="1"/>
            <a:r>
              <a:rPr lang="en-US" sz="1800" dirty="0"/>
              <a:t>OGC 05-020r26</a:t>
            </a:r>
          </a:p>
          <a:p>
            <a:r>
              <a:rPr lang="en-US" sz="1800" dirty="0"/>
              <a:t>NIST Special Publications</a:t>
            </a:r>
          </a:p>
          <a:p>
            <a:pPr lvl="1"/>
            <a:r>
              <a:rPr lang="en-US" sz="1800" dirty="0"/>
              <a:t>NIST Publication Guide</a:t>
            </a:r>
          </a:p>
          <a:p>
            <a:r>
              <a:rPr lang="en-US" sz="1800" dirty="0"/>
              <a:t>BIPM</a:t>
            </a:r>
          </a:p>
          <a:p>
            <a:r>
              <a:rPr lang="en-US" sz="1800" dirty="0"/>
              <a:t>IHO</a:t>
            </a:r>
          </a:p>
          <a:p>
            <a:r>
              <a:rPr lang="en-US" sz="1800" dirty="0"/>
              <a:t>BSI</a:t>
            </a:r>
          </a:p>
          <a:p>
            <a:pPr lvl="1"/>
            <a:r>
              <a:rPr lang="en-US" sz="1800" dirty="0"/>
              <a:t>BS 1</a:t>
            </a:r>
          </a:p>
          <a:p>
            <a:r>
              <a:rPr lang="en-US" sz="1800" dirty="0"/>
              <a:t>Chinese National Standard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13A3F4-652F-0C49-A6D8-25679C23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36100 metamodels proven compatible with many SDOs</a:t>
            </a:r>
          </a:p>
        </p:txBody>
      </p:sp>
    </p:spTree>
    <p:extLst>
      <p:ext uri="{BB962C8B-B14F-4D97-AF65-F5344CB8AC3E}">
        <p14:creationId xmlns:p14="http://schemas.microsoft.com/office/powerpoint/2010/main" val="49773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Text, letter&#10;&#10;Description automatically generated">
            <a:extLst>
              <a:ext uri="{FF2B5EF4-FFF2-40B4-BE49-F238E27FC236}">
                <a16:creationId xmlns:a16="http://schemas.microsoft.com/office/drawing/2014/main" id="{C71E7E6A-A060-9842-9C76-571CB461FA2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797" y="990600"/>
            <a:ext cx="2497910" cy="36036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4B2CCC8-569E-4B48-9781-EB997B96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Standardization deliverables created with 36100 models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953A01-AFB7-2C42-8292-B72BC1422CF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19064" y="990600"/>
            <a:ext cx="2788139" cy="36036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D0271AF-A2CD-9247-89AA-29C46166A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578" y="990600"/>
            <a:ext cx="2812844" cy="36036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599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6017B8-AECE-AD4A-A025-E2122CFFFA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Standardization metadata</a:t>
            </a:r>
          </a:p>
          <a:p>
            <a:pPr lvl="1"/>
            <a:r>
              <a:rPr lang="en-US" sz="1800" dirty="0"/>
              <a:t>Standardization information (e.g., stage, validity)</a:t>
            </a:r>
          </a:p>
          <a:p>
            <a:pPr lvl="1"/>
            <a:r>
              <a:rPr lang="en-US" sz="1800" dirty="0"/>
              <a:t>Publication information</a:t>
            </a:r>
          </a:p>
          <a:p>
            <a:r>
              <a:rPr lang="en-US" sz="1800" dirty="0"/>
              <a:t>Textual elements</a:t>
            </a:r>
          </a:p>
          <a:p>
            <a:pPr lvl="1"/>
            <a:r>
              <a:rPr lang="en-US" sz="1800" dirty="0"/>
              <a:t>Rich text representation</a:t>
            </a:r>
          </a:p>
          <a:p>
            <a:r>
              <a:rPr lang="en-US" sz="1800" dirty="0"/>
              <a:t>Requirements and conformance tests</a:t>
            </a:r>
          </a:p>
          <a:p>
            <a:pPr lvl="1"/>
            <a:r>
              <a:rPr lang="en-US" sz="1800" dirty="0"/>
              <a:t>Compliance validation</a:t>
            </a:r>
          </a:p>
          <a:p>
            <a:pPr lvl="1"/>
            <a:r>
              <a:rPr lang="en-US" sz="1800" dirty="0"/>
              <a:t>Test methods</a:t>
            </a:r>
          </a:p>
          <a:p>
            <a:pPr lvl="1"/>
            <a:r>
              <a:rPr lang="en-US" sz="1800" dirty="0"/>
              <a:t>Test outcomes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EE256F-A4DF-4B4C-B766-DC74AF3DAE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References and citations</a:t>
            </a:r>
          </a:p>
          <a:p>
            <a:pPr lvl="1"/>
            <a:r>
              <a:rPr lang="en-US" sz="1800" dirty="0"/>
              <a:t>Links to external resources</a:t>
            </a:r>
          </a:p>
          <a:p>
            <a:pPr lvl="1"/>
            <a:r>
              <a:rPr lang="en-US" sz="1800" dirty="0"/>
              <a:t>Internal links</a:t>
            </a:r>
          </a:p>
          <a:p>
            <a:r>
              <a:rPr lang="en-US" sz="1800" dirty="0"/>
              <a:t>Concepts and terminology</a:t>
            </a:r>
          </a:p>
          <a:p>
            <a:pPr lvl="1"/>
            <a:r>
              <a:rPr lang="en-US" sz="1800" dirty="0"/>
              <a:t>Defined concepts</a:t>
            </a:r>
          </a:p>
          <a:p>
            <a:pPr lvl="1"/>
            <a:r>
              <a:rPr lang="en-US" sz="1800" dirty="0"/>
              <a:t>External concepts (e.g. IEV)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F1584D-52EC-8F46-B075-1BD904AAD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Standardization deliverables are composed of 5 core types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313242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DE3725-C645-0746-935D-F9E3A27E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36100 metamodels information models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650D8-F460-7341-8D9B-BC947EC8E725}"/>
              </a:ext>
            </a:extLst>
          </p:cNvPr>
          <p:cNvSpPr/>
          <p:nvPr/>
        </p:nvSpPr>
        <p:spPr>
          <a:xfrm>
            <a:off x="3202584" y="1927454"/>
            <a:ext cx="2650306" cy="5920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ISO 36100 metamodels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F1BB1-5394-CD43-BCEC-80B0C8C70B03}"/>
              </a:ext>
            </a:extLst>
          </p:cNvPr>
          <p:cNvSpPr/>
          <p:nvPr/>
        </p:nvSpPr>
        <p:spPr>
          <a:xfrm>
            <a:off x="392217" y="3151555"/>
            <a:ext cx="2392529" cy="489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Requirements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B12FB1-FBC4-014F-928B-BBFA3BECD637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2784746" y="2519477"/>
            <a:ext cx="1742991" cy="876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E23CE7B-D13A-8449-95EF-B805CDBAE215}"/>
              </a:ext>
            </a:extLst>
          </p:cNvPr>
          <p:cNvSpPr/>
          <p:nvPr/>
        </p:nvSpPr>
        <p:spPr>
          <a:xfrm>
            <a:off x="3331473" y="873700"/>
            <a:ext cx="2392529" cy="59202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organizational deliverable schema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022582-2653-264A-8E31-AFC5350BE2C2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 flipH="1">
            <a:off x="4527737" y="1465723"/>
            <a:ext cx="1" cy="46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6F4F8D-64A0-434F-9372-DE2A1F6D276F}"/>
              </a:ext>
            </a:extLst>
          </p:cNvPr>
          <p:cNvSpPr txBox="1"/>
          <p:nvPr/>
        </p:nvSpPr>
        <p:spPr>
          <a:xfrm>
            <a:off x="3477830" y="1539617"/>
            <a:ext cx="982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02F5E1-9D13-DD41-8241-E9CF2FB41821}"/>
              </a:ext>
            </a:extLst>
          </p:cNvPr>
          <p:cNvSpPr txBox="1"/>
          <p:nvPr/>
        </p:nvSpPr>
        <p:spPr>
          <a:xfrm>
            <a:off x="7518398" y="754058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* simplified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64E944-4545-D844-A429-CBDF0EAC708C}"/>
              </a:ext>
            </a:extLst>
          </p:cNvPr>
          <p:cNvSpPr/>
          <p:nvPr/>
        </p:nvSpPr>
        <p:spPr>
          <a:xfrm>
            <a:off x="392217" y="2481617"/>
            <a:ext cx="2392529" cy="489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Metadata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F84932-D824-9146-9498-E95F9842B9EC}"/>
              </a:ext>
            </a:extLst>
          </p:cNvPr>
          <p:cNvSpPr/>
          <p:nvPr/>
        </p:nvSpPr>
        <p:spPr>
          <a:xfrm>
            <a:off x="1236382" y="3868422"/>
            <a:ext cx="2631782" cy="489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Concepts / Terminology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064E95-A26D-9C40-9C79-E28341713D7E}"/>
              </a:ext>
            </a:extLst>
          </p:cNvPr>
          <p:cNvSpPr/>
          <p:nvPr/>
        </p:nvSpPr>
        <p:spPr>
          <a:xfrm>
            <a:off x="5275838" y="3868421"/>
            <a:ext cx="2631782" cy="489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References / Citations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E9B667-37F7-084F-A1BA-C4F303044595}"/>
              </a:ext>
            </a:extLst>
          </p:cNvPr>
          <p:cNvCxnSpPr>
            <a:cxnSpLocks/>
            <a:stCxn id="34" idx="1"/>
            <a:endCxn id="4" idx="2"/>
          </p:cNvCxnSpPr>
          <p:nvPr/>
        </p:nvCxnSpPr>
        <p:spPr>
          <a:xfrm flipH="1" flipV="1">
            <a:off x="4527737" y="2519477"/>
            <a:ext cx="748101" cy="1593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0415A3-7CE0-6E4C-B128-DE7DCB75486A}"/>
              </a:ext>
            </a:extLst>
          </p:cNvPr>
          <p:cNvCxnSpPr>
            <a:cxnSpLocks/>
            <a:stCxn id="32" idx="3"/>
            <a:endCxn id="4" idx="2"/>
          </p:cNvCxnSpPr>
          <p:nvPr/>
        </p:nvCxnSpPr>
        <p:spPr>
          <a:xfrm flipV="1">
            <a:off x="2784746" y="2519477"/>
            <a:ext cx="1742991" cy="206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6910239-62DA-AE43-BC3B-50DF0278E791}"/>
              </a:ext>
            </a:extLst>
          </p:cNvPr>
          <p:cNvCxnSpPr>
            <a:cxnSpLocks/>
            <a:stCxn id="33" idx="3"/>
            <a:endCxn id="4" idx="2"/>
          </p:cNvCxnSpPr>
          <p:nvPr/>
        </p:nvCxnSpPr>
        <p:spPr>
          <a:xfrm flipV="1">
            <a:off x="3868164" y="2519477"/>
            <a:ext cx="659573" cy="1593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1F85D4A-57E1-8846-8E22-9D08F3401841}"/>
              </a:ext>
            </a:extLst>
          </p:cNvPr>
          <p:cNvSpPr/>
          <p:nvPr/>
        </p:nvSpPr>
        <p:spPr>
          <a:xfrm>
            <a:off x="1236382" y="4650063"/>
            <a:ext cx="2631782" cy="3675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ISO 10241-1 / ISO 704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FF1F49-12F0-2D4E-8D40-A8719EEADF3A}"/>
              </a:ext>
            </a:extLst>
          </p:cNvPr>
          <p:cNvCxnSpPr>
            <a:cxnSpLocks/>
            <a:stCxn id="49" idx="0"/>
            <a:endCxn id="33" idx="2"/>
          </p:cNvCxnSpPr>
          <p:nvPr/>
        </p:nvCxnSpPr>
        <p:spPr>
          <a:xfrm flipV="1">
            <a:off x="2552273" y="4357697"/>
            <a:ext cx="0" cy="292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8DFC9A58-A2DE-684B-987A-4EB52085013C}"/>
              </a:ext>
            </a:extLst>
          </p:cNvPr>
          <p:cNvSpPr/>
          <p:nvPr/>
        </p:nvSpPr>
        <p:spPr>
          <a:xfrm>
            <a:off x="5793246" y="4602437"/>
            <a:ext cx="1596962" cy="3675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ISO 690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F74A0FB-A13C-D94B-8155-DCC1F04BE326}"/>
              </a:ext>
            </a:extLst>
          </p:cNvPr>
          <p:cNvCxnSpPr>
            <a:cxnSpLocks/>
            <a:stCxn id="73" idx="0"/>
            <a:endCxn id="34" idx="2"/>
          </p:cNvCxnSpPr>
          <p:nvPr/>
        </p:nvCxnSpPr>
        <p:spPr>
          <a:xfrm flipV="1">
            <a:off x="6591727" y="4357696"/>
            <a:ext cx="2" cy="24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09436B-CB0B-7241-BF66-87E477BDBB0B}"/>
              </a:ext>
            </a:extLst>
          </p:cNvPr>
          <p:cNvSpPr/>
          <p:nvPr/>
        </p:nvSpPr>
        <p:spPr>
          <a:xfrm>
            <a:off x="6120001" y="2481617"/>
            <a:ext cx="2631782" cy="489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Textual representation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D662062-D30A-3345-AD67-C657F82D5BFD}"/>
              </a:ext>
            </a:extLst>
          </p:cNvPr>
          <p:cNvCxnSpPr>
            <a:cxnSpLocks/>
            <a:stCxn id="89" idx="1"/>
            <a:endCxn id="4" idx="2"/>
          </p:cNvCxnSpPr>
          <p:nvPr/>
        </p:nvCxnSpPr>
        <p:spPr>
          <a:xfrm flipH="1" flipV="1">
            <a:off x="4527737" y="2519477"/>
            <a:ext cx="1592264" cy="206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6F3F3F8-7200-8343-8E4C-1C0A894F8239}"/>
              </a:ext>
            </a:extLst>
          </p:cNvPr>
          <p:cNvSpPr/>
          <p:nvPr/>
        </p:nvSpPr>
        <p:spPr>
          <a:xfrm>
            <a:off x="6637411" y="3215633"/>
            <a:ext cx="1596962" cy="3675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CC 36010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42EDC5A-2B29-2B4B-9F22-8251DC6BA3A9}"/>
              </a:ext>
            </a:extLst>
          </p:cNvPr>
          <p:cNvCxnSpPr>
            <a:cxnSpLocks/>
            <a:stCxn id="106" idx="0"/>
            <a:endCxn id="89" idx="2"/>
          </p:cNvCxnSpPr>
          <p:nvPr/>
        </p:nvCxnSpPr>
        <p:spPr>
          <a:xfrm flipV="1">
            <a:off x="7435892" y="2970892"/>
            <a:ext cx="0" cy="24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19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84DF68-ECF9-BA46-BF8E-7B005077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Excerpt from ISO 36100 </a:t>
            </a:r>
            <a:r>
              <a:rPr lang="en-US" dirty="0" err="1"/>
              <a:t>StandardDocument</a:t>
            </a:r>
            <a:r>
              <a:rPr lang="en-US" dirty="0"/>
              <a:t> model</a:t>
            </a:r>
          </a:p>
        </p:txBody>
      </p:sp>
      <p:pic>
        <p:nvPicPr>
          <p:cNvPr id="1025" name="Picture 1" descr="page13image8691632">
            <a:extLst>
              <a:ext uri="{FF2B5EF4-FFF2-40B4-BE49-F238E27FC236}">
                <a16:creationId xmlns:a16="http://schemas.microsoft.com/office/drawing/2014/main" id="{7D9822CC-A9B3-D140-8966-3D5098ECF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89"/>
          <a:stretch/>
        </p:blipFill>
        <p:spPr bwMode="auto">
          <a:xfrm>
            <a:off x="1323182" y="900742"/>
            <a:ext cx="6210300" cy="36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7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9FFCB-F4B3-C244-A80D-90F1E4BE01D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HK" sz="1800" dirty="0"/>
              <a:t>Enables an </a:t>
            </a:r>
            <a:r>
              <a:rPr lang="en-HK" sz="1800" u="sng" dirty="0">
                <a:solidFill>
                  <a:schemeClr val="accent1"/>
                </a:solidFill>
              </a:rPr>
              <a:t>end-to-end, author-to-publishing workflow</a:t>
            </a:r>
            <a:r>
              <a:rPr lang="en-HK" sz="1800" dirty="0"/>
              <a:t>, allows document management processes to be </a:t>
            </a:r>
            <a:r>
              <a:rPr lang="en-HK" sz="1800" dirty="0" err="1"/>
              <a:t>centered</a:t>
            </a:r>
            <a:r>
              <a:rPr lang="en-HK" sz="1800" dirty="0"/>
              <a:t> around data. </a:t>
            </a:r>
          </a:p>
          <a:p>
            <a:r>
              <a:rPr lang="en-HK" sz="1800" dirty="0"/>
              <a:t>Semantic metamodel (and its specialized models) abstracts away presentation, allows </a:t>
            </a:r>
            <a:r>
              <a:rPr lang="en-HK" sz="1800" u="sng" dirty="0">
                <a:solidFill>
                  <a:schemeClr val="accent1"/>
                </a:solidFill>
              </a:rPr>
              <a:t>authoring and editorial processes to focus on content</a:t>
            </a:r>
            <a:r>
              <a:rPr lang="en-HK" sz="1800" dirty="0"/>
              <a:t>.</a:t>
            </a:r>
          </a:p>
          <a:p>
            <a:r>
              <a:rPr lang="en-HK" sz="1800" u="sng" dirty="0">
                <a:solidFill>
                  <a:schemeClr val="accent1"/>
                </a:solidFill>
              </a:rPr>
              <a:t>Structural and content requirements can be subject to formal validation</a:t>
            </a:r>
            <a:r>
              <a:rPr lang="en-HK" sz="1800" dirty="0">
                <a:solidFill>
                  <a:schemeClr val="accent1"/>
                </a:solidFill>
              </a:rPr>
              <a:t> </a:t>
            </a:r>
            <a:r>
              <a:rPr lang="en-HK" sz="1800" dirty="0"/>
              <a:t>as they are fully captured in the deliverable models. </a:t>
            </a:r>
          </a:p>
          <a:p>
            <a:r>
              <a:rPr lang="en-HK" sz="1800" dirty="0"/>
              <a:t>Deliverable model harmonized across different standardization documents and bodies, and therefore the </a:t>
            </a:r>
            <a:r>
              <a:rPr lang="en-HK" sz="1800" u="sng" dirty="0">
                <a:solidFill>
                  <a:schemeClr val="accent1"/>
                </a:solidFill>
              </a:rPr>
              <a:t>content can be easily repurposed for different standardization bodies with minimal effort</a:t>
            </a:r>
            <a:r>
              <a:rPr lang="en-HK" sz="1800" dirty="0"/>
              <a:t>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D7F387-1032-A441-8C31-6FD67E3E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adopting 36100’s data-centric, model-based approach</a:t>
            </a:r>
          </a:p>
        </p:txBody>
      </p:sp>
    </p:spTree>
    <p:extLst>
      <p:ext uri="{BB962C8B-B14F-4D97-AF65-F5344CB8AC3E}">
        <p14:creationId xmlns:p14="http://schemas.microsoft.com/office/powerpoint/2010/main" val="3162367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5EB3FD-95FA-8949-9A8A-42AB2753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realization of 36100 metamodels (in use today)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B8A2C8-C6CD-D140-B0DE-CEB2F2F5E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3155" y="822723"/>
            <a:ext cx="4917690" cy="38219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7C4838-A105-A349-8C70-9A1BB69D0030}"/>
              </a:ext>
            </a:extLst>
          </p:cNvPr>
          <p:cNvSpPr txBox="1"/>
          <p:nvPr/>
        </p:nvSpPr>
        <p:spPr>
          <a:xfrm>
            <a:off x="2228851" y="4644717"/>
            <a:ext cx="4398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OGC 21-035r1 “Model-Based Standards”, Figure 16 </a:t>
            </a:r>
          </a:p>
        </p:txBody>
      </p:sp>
    </p:spTree>
    <p:extLst>
      <p:ext uri="{BB962C8B-B14F-4D97-AF65-F5344CB8AC3E}">
        <p14:creationId xmlns:p14="http://schemas.microsoft.com/office/powerpoint/2010/main" val="298017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E1A1-97B5-534D-82FF-5FDBEA1C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standard information models in detail</a:t>
            </a:r>
          </a:p>
        </p:txBody>
      </p:sp>
      <p:pic>
        <p:nvPicPr>
          <p:cNvPr id="5" name="Content Placeholder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3FC11C28-1CFA-2749-ADDD-D02A7A2DB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793" y="894624"/>
            <a:ext cx="6148007" cy="421305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4CA3A-C2DE-894B-AC4B-475C79D9F84D}"/>
              </a:ext>
            </a:extLst>
          </p:cNvPr>
          <p:cNvSpPr txBox="1"/>
          <p:nvPr/>
        </p:nvSpPr>
        <p:spPr>
          <a:xfrm>
            <a:off x="2228851" y="4697872"/>
            <a:ext cx="439896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OGC 21-035r1 “Model-Based Standards”, Figure 5 </a:t>
            </a:r>
          </a:p>
        </p:txBody>
      </p:sp>
    </p:spTree>
    <p:extLst>
      <p:ext uri="{BB962C8B-B14F-4D97-AF65-F5344CB8AC3E}">
        <p14:creationId xmlns:p14="http://schemas.microsoft.com/office/powerpoint/2010/main" val="290212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5D94-CE1F-E34D-83D2-266E4EE1A9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ISO 36100 provides an abstract metamodel of requirements:</a:t>
            </a:r>
          </a:p>
          <a:p>
            <a:pPr lvl="1"/>
            <a:r>
              <a:rPr lang="en-US" sz="1800" dirty="0"/>
              <a:t>compatible with OGC’s </a:t>
            </a:r>
            <a:r>
              <a:rPr lang="en-US" sz="1800" dirty="0" err="1"/>
              <a:t>ModSpec</a:t>
            </a:r>
            <a:endParaRPr lang="en-US" sz="1800" dirty="0"/>
          </a:p>
          <a:p>
            <a:pPr lvl="1"/>
            <a:r>
              <a:rPr lang="en-US" sz="1800" dirty="0"/>
              <a:t>enables machine-readable requirements</a:t>
            </a:r>
          </a:p>
          <a:p>
            <a:r>
              <a:rPr lang="en-US" sz="1800" dirty="0"/>
              <a:t>Battle tested: </a:t>
            </a:r>
            <a:r>
              <a:rPr lang="en-US" sz="1800" u="sng" dirty="0"/>
              <a:t>in use in OGC for over 10 years, applies to all OGC standards!</a:t>
            </a:r>
            <a:endParaRPr lang="en-US" sz="1800" u="sng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A22228-1E05-7E4E-887D-87A156C6374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OGC 08-131r3 “The Specification Model — A Standard for Modular specifications” (</a:t>
            </a:r>
            <a:r>
              <a:rPr lang="en-US" sz="1800" dirty="0" err="1"/>
              <a:t>ModSpec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Enables interoperability of implementations, test validation across implementations</a:t>
            </a:r>
          </a:p>
          <a:p>
            <a:pPr lvl="1"/>
            <a:r>
              <a:rPr lang="en-US" sz="1800" dirty="0"/>
              <a:t>Language to specify requirements for software, services or data structures.</a:t>
            </a:r>
          </a:p>
          <a:p>
            <a:r>
              <a:rPr lang="en-US" sz="1800" dirty="0"/>
              <a:t>Achieves the above by providing a </a:t>
            </a:r>
            <a:r>
              <a:rPr lang="en-US" sz="1800" u="sng" dirty="0">
                <a:solidFill>
                  <a:schemeClr val="accent1"/>
                </a:solidFill>
              </a:rPr>
              <a:t>standardized set of information models for requirements and tests</a:t>
            </a:r>
          </a:p>
          <a:p>
            <a:endParaRPr lang="en-US" sz="1800" u="sng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6035F-FA98-AF49-AAB3-DC96766B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Machine-readable requirements modelling and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E4FFB-E4B7-2949-9E9C-5C1CAC1475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862513"/>
            <a:ext cx="179388" cy="182562"/>
          </a:xfrm>
        </p:spPr>
        <p:txBody>
          <a:bodyPr/>
          <a:lstStyle/>
          <a:p>
            <a:pPr>
              <a:defRPr/>
            </a:pPr>
            <a:fld id="{65AC7AC4-9ADF-FA4E-BD12-A120307F00E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067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EE3967-66D0-8D41-91CA-88D17B37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basic information models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3A25C-DF01-7B45-99D1-8C0BF9D2E90B}"/>
              </a:ext>
            </a:extLst>
          </p:cNvPr>
          <p:cNvSpPr/>
          <p:nvPr/>
        </p:nvSpPr>
        <p:spPr>
          <a:xfrm>
            <a:off x="1625600" y="2450139"/>
            <a:ext cx="2392529" cy="5920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Requirements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D64E30-A2E1-DA40-AC55-77423EC23333}"/>
              </a:ext>
            </a:extLst>
          </p:cNvPr>
          <p:cNvSpPr/>
          <p:nvPr/>
        </p:nvSpPr>
        <p:spPr>
          <a:xfrm>
            <a:off x="1625600" y="3468254"/>
            <a:ext cx="2392529" cy="5920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Requirement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D48CD-F479-3D41-BF6C-71205E292B76}"/>
              </a:ext>
            </a:extLst>
          </p:cNvPr>
          <p:cNvSpPr/>
          <p:nvPr/>
        </p:nvSpPr>
        <p:spPr>
          <a:xfrm>
            <a:off x="5125870" y="3468254"/>
            <a:ext cx="2392529" cy="5920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Conformance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2EB8A-2D0C-C643-B073-5442D672CAC5}"/>
              </a:ext>
            </a:extLst>
          </p:cNvPr>
          <p:cNvSpPr/>
          <p:nvPr/>
        </p:nvSpPr>
        <p:spPr>
          <a:xfrm>
            <a:off x="5125869" y="2450138"/>
            <a:ext cx="2392529" cy="5920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Conformance class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C4C581-BA01-5449-AE13-28FBFA322822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4018129" y="3764266"/>
            <a:ext cx="1107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31B139-B6C9-4947-8541-289237A4B75D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6322134" y="3042161"/>
            <a:ext cx="1" cy="426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E07F33-DBC3-274C-BC67-DEBBCCAC476E}"/>
              </a:ext>
            </a:extLst>
          </p:cNvPr>
          <p:cNvSpPr txBox="1"/>
          <p:nvPr/>
        </p:nvSpPr>
        <p:spPr>
          <a:xfrm>
            <a:off x="6383866" y="3126214"/>
            <a:ext cx="910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belongs 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E6A220-D747-6B49-B5DC-A4E5BE00F3E8}"/>
              </a:ext>
            </a:extLst>
          </p:cNvPr>
          <p:cNvSpPr txBox="1"/>
          <p:nvPr/>
        </p:nvSpPr>
        <p:spPr>
          <a:xfrm>
            <a:off x="4275906" y="3468254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D9769B-9213-1640-A469-118CDD419F0C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2821865" y="3042162"/>
            <a:ext cx="0" cy="42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AEF2F8-79BA-4E4D-B478-C1016692240B}"/>
              </a:ext>
            </a:extLst>
          </p:cNvPr>
          <p:cNvSpPr txBox="1"/>
          <p:nvPr/>
        </p:nvSpPr>
        <p:spPr>
          <a:xfrm>
            <a:off x="2821864" y="3126214"/>
            <a:ext cx="910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belongs to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29F67F-221E-C74D-92CD-204B7F2D048D}"/>
              </a:ext>
            </a:extLst>
          </p:cNvPr>
          <p:cNvCxnSpPr/>
          <p:nvPr/>
        </p:nvCxnSpPr>
        <p:spPr>
          <a:xfrm flipH="1">
            <a:off x="4018129" y="2765199"/>
            <a:ext cx="1107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BD6383-F46B-DF45-889A-8CFACD2E913F}"/>
              </a:ext>
            </a:extLst>
          </p:cNvPr>
          <p:cNvSpPr txBox="1"/>
          <p:nvPr/>
        </p:nvSpPr>
        <p:spPr>
          <a:xfrm>
            <a:off x="4275906" y="2469187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555CF8-DD4B-0147-B19F-6349CEC70AAF}"/>
              </a:ext>
            </a:extLst>
          </p:cNvPr>
          <p:cNvSpPr/>
          <p:nvPr/>
        </p:nvSpPr>
        <p:spPr>
          <a:xfrm>
            <a:off x="3331473" y="1035117"/>
            <a:ext cx="2392529" cy="59202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 subject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254B78-BCAB-1D47-98A3-D358632AA4AF}"/>
              </a:ext>
            </a:extLst>
          </p:cNvPr>
          <p:cNvCxnSpPr>
            <a:cxnSpLocks/>
            <a:stCxn id="22" idx="2"/>
            <a:endCxn id="4" idx="0"/>
          </p:cNvCxnSpPr>
          <p:nvPr/>
        </p:nvCxnSpPr>
        <p:spPr>
          <a:xfrm flipH="1">
            <a:off x="2821865" y="1627140"/>
            <a:ext cx="1705873" cy="822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89C00B3-51B2-474E-AD6F-3E9E69A5DCC9}"/>
              </a:ext>
            </a:extLst>
          </p:cNvPr>
          <p:cNvSpPr txBox="1"/>
          <p:nvPr/>
        </p:nvSpPr>
        <p:spPr>
          <a:xfrm>
            <a:off x="2937473" y="1729990"/>
            <a:ext cx="982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298919-6902-ED48-8D24-F5716D898689}"/>
              </a:ext>
            </a:extLst>
          </p:cNvPr>
          <p:cNvSpPr txBox="1"/>
          <p:nvPr/>
        </p:nvSpPr>
        <p:spPr>
          <a:xfrm>
            <a:off x="6229906" y="1054129"/>
            <a:ext cx="795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validates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DDD99D5C-B2B9-5D42-9BE3-3BA32ACC210D}"/>
              </a:ext>
            </a:extLst>
          </p:cNvPr>
          <p:cNvCxnSpPr>
            <a:stCxn id="6" idx="3"/>
            <a:endCxn id="22" idx="3"/>
          </p:cNvCxnSpPr>
          <p:nvPr/>
        </p:nvCxnSpPr>
        <p:spPr>
          <a:xfrm flipH="1" flipV="1">
            <a:off x="5724002" y="1331129"/>
            <a:ext cx="1794397" cy="2433137"/>
          </a:xfrm>
          <a:prstGeom prst="bentConnector3">
            <a:avLst>
              <a:gd name="adj1" fmla="val -127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F80C85-4F06-B74F-A62A-35ADE0766EB2}"/>
              </a:ext>
            </a:extLst>
          </p:cNvPr>
          <p:cNvCxnSpPr>
            <a:cxnSpLocks/>
            <a:stCxn id="22" idx="2"/>
            <a:endCxn id="7" idx="0"/>
          </p:cNvCxnSpPr>
          <p:nvPr/>
        </p:nvCxnSpPr>
        <p:spPr>
          <a:xfrm>
            <a:off x="4527738" y="1627140"/>
            <a:ext cx="1794396" cy="82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6A0E5A2-045F-0B44-A18E-2E4BE8A2E7A7}"/>
              </a:ext>
            </a:extLst>
          </p:cNvPr>
          <p:cNvSpPr txBox="1"/>
          <p:nvPr/>
        </p:nvSpPr>
        <p:spPr>
          <a:xfrm>
            <a:off x="5460540" y="1729990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satisfies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84770D-6134-864E-A9E1-3A7EC38F96AB}"/>
              </a:ext>
            </a:extLst>
          </p:cNvPr>
          <p:cNvSpPr txBox="1"/>
          <p:nvPr/>
        </p:nvSpPr>
        <p:spPr>
          <a:xfrm>
            <a:off x="7518398" y="754058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* simplified</a:t>
            </a:r>
          </a:p>
        </p:txBody>
      </p:sp>
    </p:spTree>
    <p:extLst>
      <p:ext uri="{BB962C8B-B14F-4D97-AF65-F5344CB8AC3E}">
        <p14:creationId xmlns:p14="http://schemas.microsoft.com/office/powerpoint/2010/main" val="4213558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F6DD8-CBAD-1646-A97D-AEF404A5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basic information models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415BC7-DDDC-4749-BC9D-8462960A818E}"/>
              </a:ext>
            </a:extLst>
          </p:cNvPr>
          <p:cNvSpPr/>
          <p:nvPr/>
        </p:nvSpPr>
        <p:spPr>
          <a:xfrm>
            <a:off x="863601" y="1363133"/>
            <a:ext cx="3335866" cy="303180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Requirement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URI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Requirements class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Obligation (e.g., requirement, recommendation, permission)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Dependencies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Target type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Purpose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157A0-4CCE-4F47-A954-666560AC6915}"/>
              </a:ext>
            </a:extLst>
          </p:cNvPr>
          <p:cNvSpPr/>
          <p:nvPr/>
        </p:nvSpPr>
        <p:spPr>
          <a:xfrm>
            <a:off x="4495801" y="1371599"/>
            <a:ext cx="3335866" cy="303180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Conformance test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URI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Conformance suite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Corresponding requirement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Dependencies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Purpose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 method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 subject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 parts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 steps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 to validate against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Executable portions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253C4-6096-1B49-8598-C1D5E388E165}"/>
              </a:ext>
            </a:extLst>
          </p:cNvPr>
          <p:cNvSpPr txBox="1"/>
          <p:nvPr/>
        </p:nvSpPr>
        <p:spPr>
          <a:xfrm>
            <a:off x="7518398" y="754058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* simplified</a:t>
            </a:r>
          </a:p>
        </p:txBody>
      </p:sp>
    </p:spTree>
    <p:extLst>
      <p:ext uri="{BB962C8B-B14F-4D97-AF65-F5344CB8AC3E}">
        <p14:creationId xmlns:p14="http://schemas.microsoft.com/office/powerpoint/2010/main" val="3837567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5178DF-8BB3-4B43-9512-903EA74C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class and requirements samples</a:t>
            </a:r>
          </a:p>
        </p:txBody>
      </p:sp>
      <p:pic>
        <p:nvPicPr>
          <p:cNvPr id="4" name="Content Placeholder 8" descr="Text&#10;&#10;Description automatically generated">
            <a:extLst>
              <a:ext uri="{FF2B5EF4-FFF2-40B4-BE49-F238E27FC236}">
                <a16:creationId xmlns:a16="http://schemas.microsoft.com/office/drawing/2014/main" id="{B5237BCC-6230-404F-970D-007B5BD761E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4572000" y="1090466"/>
            <a:ext cx="4237393" cy="3281795"/>
          </a:xfrm>
        </p:spPr>
      </p:pic>
      <p:pic>
        <p:nvPicPr>
          <p:cNvPr id="5" name="Content Placeholder 6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5AACDEFC-00E1-8347-9DB0-FDD4FBEC5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4" y="1090466"/>
            <a:ext cx="4024874" cy="274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71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5CF159E-7D56-6F48-81AC-A00DC879F2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76"/>
          <a:stretch/>
        </p:blipFill>
        <p:spPr>
          <a:xfrm>
            <a:off x="5218599" y="2177923"/>
            <a:ext cx="3189903" cy="2271311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015B77-2751-F047-84EB-B773E01718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064" y="990428"/>
            <a:ext cx="3984140" cy="36037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OGC 21-035r1</a:t>
            </a:r>
          </a:p>
          <a:p>
            <a:pPr marL="0" indent="0">
              <a:buNone/>
            </a:pPr>
            <a:r>
              <a:rPr lang="en-US" sz="1800" dirty="0"/>
              <a:t>OGC Model-Driven Standards (2022)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78691-2778-E94E-8FDA-0D6069CDAF3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ISO/TC 184/SC 4 SMRL Innovation -- Modernizing the ISO 10303 authoring and publication processes” (2021)</a:t>
            </a: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CB3253-8590-CB42-A96E-3E7FE2CB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Advanced: Model-based standards possible with 36100</a:t>
            </a:r>
          </a:p>
        </p:txBody>
      </p:sp>
      <p:pic>
        <p:nvPicPr>
          <p:cNvPr id="8" name="Picture 7" descr="Website&#10;&#10;Description automatically generated">
            <a:extLst>
              <a:ext uri="{FF2B5EF4-FFF2-40B4-BE49-F238E27FC236}">
                <a16:creationId xmlns:a16="http://schemas.microsoft.com/office/drawing/2014/main" id="{8530F0E6-57E5-B440-895B-71FB6826A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5" y="2177923"/>
            <a:ext cx="3317396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30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0CB7BB-6F86-F74E-A825-CE9D5A32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Advanced: Machine-readable Amendments/Corrigendum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02F516-A3B1-9B4B-9A96-093743C7DA70}"/>
              </a:ext>
            </a:extLst>
          </p:cNvPr>
          <p:cNvSpPr/>
          <p:nvPr/>
        </p:nvSpPr>
        <p:spPr>
          <a:xfrm>
            <a:off x="1388534" y="1075265"/>
            <a:ext cx="2082799" cy="132080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standard deliverable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EF331E-FDDA-6B4C-9C58-69B618CBE22F}"/>
              </a:ext>
            </a:extLst>
          </p:cNvPr>
          <p:cNvSpPr/>
          <p:nvPr/>
        </p:nvSpPr>
        <p:spPr>
          <a:xfrm>
            <a:off x="3352800" y="2802470"/>
            <a:ext cx="1913465" cy="3640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099B2-0EEA-1E4B-8F63-53C902E6C13E}"/>
              </a:ext>
            </a:extLst>
          </p:cNvPr>
          <p:cNvSpPr/>
          <p:nvPr/>
        </p:nvSpPr>
        <p:spPr>
          <a:xfrm>
            <a:off x="3352801" y="3450172"/>
            <a:ext cx="1913465" cy="3640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532F67-9267-8444-8967-571591714570}"/>
              </a:ext>
            </a:extLst>
          </p:cNvPr>
          <p:cNvSpPr/>
          <p:nvPr/>
        </p:nvSpPr>
        <p:spPr>
          <a:xfrm>
            <a:off x="1481669" y="1490134"/>
            <a:ext cx="1871132" cy="3556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CCF3D-D191-A747-9F3B-21871C5BFBD1}"/>
              </a:ext>
            </a:extLst>
          </p:cNvPr>
          <p:cNvSpPr/>
          <p:nvPr/>
        </p:nvSpPr>
        <p:spPr>
          <a:xfrm>
            <a:off x="1481669" y="1938868"/>
            <a:ext cx="1871132" cy="3556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27578A-737F-3E48-938A-6C5E32687FAD}"/>
              </a:ext>
            </a:extLst>
          </p:cNvPr>
          <p:cNvCxnSpPr>
            <a:stCxn id="6" idx="1"/>
            <a:endCxn id="5" idx="2"/>
          </p:cNvCxnSpPr>
          <p:nvPr/>
        </p:nvCxnSpPr>
        <p:spPr>
          <a:xfrm flipH="1" flipV="1">
            <a:off x="2429934" y="2396066"/>
            <a:ext cx="922866" cy="588438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4F5D5B-AB8F-DE43-87F0-E4BB0EE78CDF}"/>
              </a:ext>
            </a:extLst>
          </p:cNvPr>
          <p:cNvCxnSpPr>
            <a:cxnSpLocks/>
            <a:stCxn id="7" idx="1"/>
            <a:endCxn id="5" idx="2"/>
          </p:cNvCxnSpPr>
          <p:nvPr/>
        </p:nvCxnSpPr>
        <p:spPr>
          <a:xfrm flipH="1" flipV="1">
            <a:off x="2429934" y="2396066"/>
            <a:ext cx="922867" cy="1236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D0FCB44D-D37F-9040-857C-3A9D5550C6F7}"/>
              </a:ext>
            </a:extLst>
          </p:cNvPr>
          <p:cNvSpPr/>
          <p:nvPr/>
        </p:nvSpPr>
        <p:spPr>
          <a:xfrm>
            <a:off x="5497975" y="1075266"/>
            <a:ext cx="235454" cy="3114770"/>
          </a:xfrm>
          <a:prstGeom prst="rightBrace">
            <a:avLst>
              <a:gd name="adj1" fmla="val 8333"/>
              <a:gd name="adj2" fmla="val 5064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1A02AB-A68B-074E-BC04-9DB91F885119}"/>
              </a:ext>
            </a:extLst>
          </p:cNvPr>
          <p:cNvSpPr/>
          <p:nvPr/>
        </p:nvSpPr>
        <p:spPr>
          <a:xfrm>
            <a:off x="5991829" y="2802470"/>
            <a:ext cx="2110450" cy="13875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updated deliverable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AA75C3-ACE5-384C-874B-2F4744509BB5}"/>
              </a:ext>
            </a:extLst>
          </p:cNvPr>
          <p:cNvSpPr/>
          <p:nvPr/>
        </p:nvSpPr>
        <p:spPr>
          <a:xfrm>
            <a:off x="6111543" y="3214762"/>
            <a:ext cx="1871132" cy="3556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 + change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99852-C36F-424D-A471-B81E88A8F4FE}"/>
              </a:ext>
            </a:extLst>
          </p:cNvPr>
          <p:cNvSpPr/>
          <p:nvPr/>
        </p:nvSpPr>
        <p:spPr>
          <a:xfrm>
            <a:off x="6111543" y="3663496"/>
            <a:ext cx="1871132" cy="3556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 + change</a:t>
            </a:r>
          </a:p>
        </p:txBody>
      </p:sp>
    </p:spTree>
    <p:extLst>
      <p:ext uri="{BB962C8B-B14F-4D97-AF65-F5344CB8AC3E}">
        <p14:creationId xmlns:p14="http://schemas.microsoft.com/office/powerpoint/2010/main" val="668761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41A0F-4928-4043-8691-54CEB28466C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Can provide detailed information model presentation on ISO 36100 metamodels</a:t>
            </a:r>
          </a:p>
          <a:p>
            <a:r>
              <a:rPr lang="en-US" sz="1800" dirty="0"/>
              <a:t>Provide information on how machine-readable requirements are used</a:t>
            </a:r>
          </a:p>
          <a:p>
            <a:r>
              <a:rPr lang="en-US" sz="1800" dirty="0"/>
              <a:t>Partake in discussions on what information models can adequately represent standards</a:t>
            </a:r>
          </a:p>
          <a:p>
            <a:r>
              <a:rPr lang="en-US" sz="1800" dirty="0"/>
              <a:t>Anything else?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33A7FD-7E94-FF49-B657-90B19F97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2060709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1C1CF2-7D24-904E-BFE5-89A175BD6C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you, questions welcome!</a:t>
            </a:r>
          </a:p>
        </p:txBody>
      </p:sp>
    </p:spTree>
    <p:extLst>
      <p:ext uri="{BB962C8B-B14F-4D97-AF65-F5344CB8AC3E}">
        <p14:creationId xmlns:p14="http://schemas.microsoft.com/office/powerpoint/2010/main" val="25425609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Default Theme">
  <a:themeElements>
    <a:clrScheme name="Ribose Them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661AD"/>
      </a:accent1>
      <a:accent2>
        <a:srgbClr val="EF8C40"/>
      </a:accent2>
      <a:accent3>
        <a:srgbClr val="FFD141"/>
      </a:accent3>
      <a:accent4>
        <a:srgbClr val="9ABD48"/>
      </a:accent4>
      <a:accent5>
        <a:srgbClr val="CD4F38"/>
      </a:accent5>
      <a:accent6>
        <a:srgbClr val="E973AD"/>
      </a:accent6>
      <a:hlink>
        <a:srgbClr val="F7803C"/>
      </a:hlink>
      <a:folHlink>
        <a:srgbClr val="DDD721"/>
      </a:folHlink>
    </a:clrScheme>
    <a:fontScheme name="Office 2">
      <a:majorFont>
        <a:latin typeface="BauPro-Medium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auPro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29454</TotalTime>
  <Words>795</Words>
  <Application>Microsoft Macintosh PowerPoint</Application>
  <PresentationFormat>On-screen Show (16:9)</PresentationFormat>
  <Paragraphs>147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BauPro</vt:lpstr>
      <vt:lpstr>Calibri</vt:lpstr>
      <vt:lpstr>Helvetica Neue</vt:lpstr>
      <vt:lpstr>Lato</vt:lpstr>
      <vt:lpstr>Default Theme</vt:lpstr>
      <vt:lpstr>ISO 36100 Standardization documents — Metamodel</vt:lpstr>
      <vt:lpstr>Motivation of a harmonized information model</vt:lpstr>
      <vt:lpstr>Addressing efficiency and effectiveness challenges</vt:lpstr>
      <vt:lpstr>Harmonizing standardization deliverable content across SDOs</vt:lpstr>
      <vt:lpstr>ISO 36100 metamodels proven compatible with many SDOs</vt:lpstr>
      <vt:lpstr>Standardization deliverables created with 36100 models</vt:lpstr>
      <vt:lpstr>Standardization deliverables are composed of 5 core types of information</vt:lpstr>
      <vt:lpstr>36100 metamodels information models architecture</vt:lpstr>
      <vt:lpstr>Excerpt from ISO 36100 StandardDocument model</vt:lpstr>
      <vt:lpstr>Benefits of adopting 36100’s data-centric, model-based approach</vt:lpstr>
      <vt:lpstr>OGC realization of 36100 metamodels (in use today)</vt:lpstr>
      <vt:lpstr>OGC standard information models in detail</vt:lpstr>
      <vt:lpstr>Machine-readable requirements modelling and testing</vt:lpstr>
      <vt:lpstr>Requirements basic information models architecture</vt:lpstr>
      <vt:lpstr>Requirements basic information models details</vt:lpstr>
      <vt:lpstr>Requirements class and requirements samples</vt:lpstr>
      <vt:lpstr>Advanced: Model-based standards possible with 36100</vt:lpstr>
      <vt:lpstr>Advanced: Machine-readable Amendments/Corrigendum</vt:lpstr>
      <vt:lpstr>What’s next?</vt:lpstr>
      <vt:lpstr>Thank you, questions welcome!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Model-based standards process for drafting and model development</dc:title>
  <dc:creator>Ronald Tse</dc:creator>
  <cp:lastModifiedBy>Ronald Tse</cp:lastModifiedBy>
  <cp:revision>185</cp:revision>
  <dcterms:created xsi:type="dcterms:W3CDTF">2020-07-24T17:11:22Z</dcterms:created>
  <dcterms:modified xsi:type="dcterms:W3CDTF">2022-03-21T08:27:14Z</dcterms:modified>
</cp:coreProperties>
</file>